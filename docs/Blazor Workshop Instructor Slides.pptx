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65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326429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A3A0"/>
                </a:solidFill>
              </a:defRPr>
            </a:pPr>
            <a:r>
              <a:rPr dirty="0"/>
              <a:t>.NET 10 MAUI BLAZOR HYBRID</a:t>
            </a:r>
            <a:r>
              <a:rPr lang="en-US" dirty="0"/>
              <a:t> Workshop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40080" y="987552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5F8FB"/>
                </a:solidFill>
              </a:defRPr>
            </a:pPr>
            <a:r>
              <a:t>Build a real mobile app, one checkpoint at a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76272"/>
            <a:ext cx="105156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300">
                <a:solidFill>
                  <a:srgbClr val="F5F8FB"/>
                </a:solidFill>
              </a:defRPr>
            </a:pPr>
            <a:r>
              <a:t>•  Experienced .NET developers → first MAUI Blazor Hybrid app</a:t>
            </a:r>
          </a:p>
          <a:p>
            <a:pPr>
              <a:spcAft>
                <a:spcPts val="1900"/>
              </a:spcAft>
              <a:defRPr sz="2300">
                <a:solidFill>
                  <a:srgbClr val="F5F8FB"/>
                </a:solidFill>
              </a:defRPr>
            </a:pPr>
            <a:r>
              <a:t>•  FieldOps: work orders, API, native features, offline behavior</a:t>
            </a:r>
          </a:p>
          <a:p>
            <a:pPr>
              <a:spcAft>
                <a:spcPts val="1900"/>
              </a:spcAft>
              <a:defRPr sz="2300">
                <a:solidFill>
                  <a:srgbClr val="F5F8FB"/>
                </a:solidFill>
              </a:defRPr>
            </a:pPr>
            <a:r>
              <a:t>•  10 tagged checkpoints + hands-on labs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326429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A3A0"/>
                </a:solidFill>
              </a:defRPr>
            </a:pPr>
            <a:r>
              <a:rPr lang="nl-NL" dirty="0"/>
              <a:t>.NET 10 MAUI BLAZOR HYBRID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87552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5F8FB"/>
                </a:solidFill>
              </a:defRPr>
            </a:pPr>
            <a:r>
              <a:t>Today’s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76272"/>
            <a:ext cx="105156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300">
                <a:solidFill>
                  <a:srgbClr val="F5F8FB"/>
                </a:solidFill>
              </a:defRPr>
            </a:pPr>
            <a:r>
              <a:t>•  Explain MAUI host vs BlazorWebView</a:t>
            </a:r>
          </a:p>
          <a:p>
            <a:pPr>
              <a:spcAft>
                <a:spcPts val="1900"/>
              </a:spcAft>
              <a:defRPr sz="2300">
                <a:solidFill>
                  <a:srgbClr val="F5F8FB"/>
                </a:solidFill>
              </a:defRPr>
            </a:pPr>
            <a:r>
              <a:t>•  Structure models, services, components, and navigation</a:t>
            </a:r>
          </a:p>
          <a:p>
            <a:pPr>
              <a:spcAft>
                <a:spcPts val="1900"/>
              </a:spcAft>
              <a:defRPr sz="2300">
                <a:solidFill>
                  <a:srgbClr val="F5F8FB"/>
                </a:solidFill>
              </a:defRPr>
            </a:pPr>
            <a:r>
              <a:t>•  Integrate APIs and native capabilities</a:t>
            </a:r>
          </a:p>
          <a:p>
            <a:pPr>
              <a:spcAft>
                <a:spcPts val="1900"/>
              </a:spcAft>
              <a:defRPr sz="2300">
                <a:solidFill>
                  <a:srgbClr val="F5F8FB"/>
                </a:solidFill>
              </a:defRPr>
            </a:pPr>
            <a:r>
              <a:t>•  Identify offline and authentication production gaps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326429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A3A0"/>
                </a:solidFill>
              </a:defRPr>
            </a:pPr>
            <a:r>
              <a:rPr lang="nl-NL" dirty="0"/>
              <a:t>.NET 10 MAUI BLAZOR HYBRID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87552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5F8FB"/>
                </a:solidFill>
              </a:defRPr>
            </a:pPr>
            <a:r>
              <a:t>What runs where?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76272"/>
            <a:ext cx="10515600" cy="2239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300">
                <a:solidFill>
                  <a:srgbClr val="F5F8FB"/>
                </a:solidFill>
              </a:defRPr>
            </a:pPr>
            <a:r>
              <a:rPr dirty="0"/>
              <a:t>•  Native MAUI app owns lifecycle and device APIs</a:t>
            </a:r>
          </a:p>
          <a:p>
            <a:pPr>
              <a:spcAft>
                <a:spcPts val="1900"/>
              </a:spcAft>
              <a:defRPr sz="2300">
                <a:solidFill>
                  <a:srgbClr val="F5F8FB"/>
                </a:solidFill>
              </a:defRPr>
            </a:pPr>
            <a:r>
              <a:rPr dirty="0"/>
              <a:t>•  </a:t>
            </a:r>
            <a:r>
              <a:rPr dirty="0" err="1"/>
              <a:t>BlazorWebView</a:t>
            </a:r>
            <a:r>
              <a:rPr dirty="0"/>
              <a:t> hosts interactive Razor UI</a:t>
            </a:r>
          </a:p>
          <a:p>
            <a:pPr>
              <a:spcAft>
                <a:spcPts val="1900"/>
              </a:spcAft>
              <a:defRPr sz="2300">
                <a:solidFill>
                  <a:srgbClr val="F5F8FB"/>
                </a:solidFill>
              </a:defRPr>
            </a:pPr>
            <a:r>
              <a:rPr dirty="0"/>
              <a:t>•  Shared Core owns contracts and domain models</a:t>
            </a:r>
          </a:p>
          <a:p>
            <a:pPr>
              <a:spcAft>
                <a:spcPts val="1900"/>
              </a:spcAft>
              <a:defRPr sz="2300">
                <a:solidFill>
                  <a:srgbClr val="F5F8FB"/>
                </a:solidFill>
              </a:defRPr>
            </a:pPr>
            <a:r>
              <a:rPr dirty="0"/>
              <a:t>•  ASP.NET Core API is a separate backend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326429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A3A0"/>
                </a:solidFill>
              </a:defRPr>
            </a:pPr>
            <a:r>
              <a:rPr lang="nl-NL" dirty="0"/>
              <a:t>.NET 10 MAUI BLAZOR HYBRID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87552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5F8FB"/>
                </a:solidFill>
              </a:defRPr>
            </a:pPr>
            <a:r>
              <a:t>Solution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76272"/>
            <a:ext cx="105156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300">
                <a:solidFill>
                  <a:srgbClr val="F5F8FB"/>
                </a:solidFill>
              </a:defRPr>
            </a:pPr>
            <a:r>
              <a:t>•  FieldOps.Mobile: UI, routing, DI, native adapters</a:t>
            </a:r>
          </a:p>
          <a:p>
            <a:pPr>
              <a:spcAft>
                <a:spcPts val="1900"/>
              </a:spcAft>
              <a:defRPr sz="2300">
                <a:solidFill>
                  <a:srgbClr val="F5F8FB"/>
                </a:solidFill>
              </a:defRPr>
            </a:pPr>
            <a:r>
              <a:t>•  FieldOps.Core: WorkOrder, request types, interfaces</a:t>
            </a:r>
          </a:p>
          <a:p>
            <a:pPr>
              <a:spcAft>
                <a:spcPts val="1900"/>
              </a:spcAft>
              <a:defRPr sz="2300">
                <a:solidFill>
                  <a:srgbClr val="F5F8FB"/>
                </a:solidFill>
              </a:defRPr>
            </a:pPr>
            <a:r>
              <a:t>•  FieldOps.Api: Minimal API and server-side rules</a:t>
            </a:r>
          </a:p>
          <a:p>
            <a:pPr>
              <a:spcAft>
                <a:spcPts val="1900"/>
              </a:spcAft>
              <a:defRPr sz="2300">
                <a:solidFill>
                  <a:srgbClr val="F5F8FB"/>
                </a:solidFill>
              </a:defRPr>
            </a:pPr>
            <a:r>
              <a:t>•  Mocks first, API second, local SQLite later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326429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A3A0"/>
                </a:solidFill>
              </a:defRPr>
            </a:pPr>
            <a:r>
              <a:rPr lang="nl-NL" dirty="0"/>
              <a:t>.NET 10 MAUI BLAZOR HYBRID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87552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5F8FB"/>
                </a:solidFill>
              </a:defRPr>
            </a:pPr>
            <a:r>
              <a:t>Lab 001 •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76272"/>
            <a:ext cx="10515600" cy="1641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300">
                <a:solidFill>
                  <a:srgbClr val="F5F8FB"/>
                </a:solidFill>
              </a:defRPr>
            </a:pPr>
            <a:r>
              <a:rPr dirty="0"/>
              <a:t>•  Start with the MAUI Blazor Hybrid project</a:t>
            </a:r>
          </a:p>
          <a:p>
            <a:pPr>
              <a:spcAft>
                <a:spcPts val="1900"/>
              </a:spcAft>
              <a:defRPr sz="2300">
                <a:solidFill>
                  <a:srgbClr val="F5F8FB"/>
                </a:solidFill>
              </a:defRPr>
            </a:pPr>
            <a:r>
              <a:rPr dirty="0"/>
              <a:t>•  Find </a:t>
            </a:r>
            <a:r>
              <a:rPr dirty="0" err="1"/>
              <a:t>MauiProgram</a:t>
            </a:r>
            <a:r>
              <a:rPr dirty="0"/>
              <a:t>, </a:t>
            </a:r>
            <a:r>
              <a:rPr dirty="0" err="1"/>
              <a:t>MainPage</a:t>
            </a:r>
            <a:r>
              <a:rPr dirty="0"/>
              <a:t>, Routes and </a:t>
            </a:r>
            <a:r>
              <a:rPr dirty="0" err="1"/>
              <a:t>wwwroot</a:t>
            </a:r>
            <a:endParaRPr dirty="0"/>
          </a:p>
          <a:p>
            <a:pPr>
              <a:spcAft>
                <a:spcPts val="1900"/>
              </a:spcAft>
              <a:defRPr sz="2300">
                <a:solidFill>
                  <a:srgbClr val="F5F8FB"/>
                </a:solidFill>
              </a:defRPr>
            </a:pPr>
            <a:r>
              <a:rPr dirty="0"/>
              <a:t>•  Run on Android; locate the native/Blazor boundary</a:t>
            </a:r>
            <a:r>
              <a:rPr lang="en-US" dirty="0"/>
              <a:t> – Windows fallback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326429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A3A0"/>
                </a:solidFill>
              </a:defRPr>
            </a:pPr>
            <a:r>
              <a:rPr lang="nl-NL" dirty="0"/>
              <a:t>.NET 10 MAUI BLAZOR HYBRID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87552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5F8FB"/>
                </a:solidFill>
              </a:defRPr>
            </a:pPr>
            <a:r>
              <a:t>Lab 002 •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76272"/>
            <a:ext cx="105156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300">
                <a:solidFill>
                  <a:srgbClr val="F5F8FB"/>
                </a:solidFill>
              </a:defRPr>
            </a:pPr>
            <a:r>
              <a:t>•  Move models and contracts to Core</a:t>
            </a:r>
          </a:p>
          <a:p>
            <a:pPr>
              <a:spcAft>
                <a:spcPts val="1900"/>
              </a:spcAft>
              <a:defRPr sz="2300">
                <a:solidFill>
                  <a:srgbClr val="F5F8FB"/>
                </a:solidFill>
              </a:defRPr>
            </a:pPr>
            <a:r>
              <a:t>•  Register implementations using dependency injection</a:t>
            </a:r>
          </a:p>
          <a:p>
            <a:pPr>
              <a:spcAft>
                <a:spcPts val="1900"/>
              </a:spcAft>
              <a:defRPr sz="2300">
                <a:solidFill>
                  <a:srgbClr val="F5F8FB"/>
                </a:solidFill>
              </a:defRPr>
            </a:pPr>
            <a:r>
              <a:t>•  Keep platform-specific APIs outside Core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326429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A3A0"/>
                </a:solidFill>
              </a:defRPr>
            </a:pPr>
            <a:r>
              <a:rPr lang="nl-NL" dirty="0"/>
              <a:t>.NET 10 MAUI BLAZOR HYBRID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87552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5F8FB"/>
                </a:solidFill>
              </a:defRPr>
            </a:pPr>
            <a:r>
              <a:t>Lab 003 • Components &amp; navigation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76272"/>
            <a:ext cx="105156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300">
                <a:solidFill>
                  <a:srgbClr val="F5F8FB"/>
                </a:solidFill>
              </a:defRPr>
            </a:pPr>
            <a:r>
              <a:t>•  Render a reusable WorkOrderCard</a:t>
            </a:r>
          </a:p>
          <a:p>
            <a:pPr>
              <a:spcAft>
                <a:spcPts val="1900"/>
              </a:spcAft>
              <a:defRPr sz="2300">
                <a:solidFill>
                  <a:srgbClr val="F5F8FB"/>
                </a:solidFill>
              </a:defRPr>
            </a:pPr>
            <a:r>
              <a:t>•  Navigate from work-order list to details</a:t>
            </a:r>
          </a:p>
          <a:p>
            <a:pPr>
              <a:spcAft>
                <a:spcPts val="1900"/>
              </a:spcAft>
              <a:defRPr sz="2300">
                <a:solidFill>
                  <a:srgbClr val="F5F8FB"/>
                </a:solidFill>
              </a:defRPr>
            </a:pPr>
            <a:r>
              <a:t>•  Understand route parameters and component lifecycle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326429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A3A0"/>
                </a:solidFill>
              </a:defRPr>
            </a:pPr>
            <a:r>
              <a:rPr lang="nl-NL" dirty="0"/>
              <a:t>.NET 10 MAUI BLAZOR HYBRID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87552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5F8FB"/>
                </a:solidFill>
              </a:defRPr>
            </a:pPr>
            <a:r>
              <a:t>Lab 004 • Async 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76272"/>
            <a:ext cx="105156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300">
                <a:solidFill>
                  <a:srgbClr val="F5F8FB"/>
                </a:solidFill>
              </a:defRPr>
            </a:pPr>
            <a:r>
              <a:t>•  Use asynchronous mock services</a:t>
            </a:r>
          </a:p>
          <a:p>
            <a:pPr>
              <a:spcAft>
                <a:spcPts val="1900"/>
              </a:spcAft>
              <a:defRPr sz="2300">
                <a:solidFill>
                  <a:srgbClr val="F5F8FB"/>
                </a:solidFill>
              </a:defRPr>
            </a:pPr>
            <a:r>
              <a:t>•  Show loading, empty, and error states</a:t>
            </a:r>
          </a:p>
          <a:p>
            <a:pPr>
              <a:spcAft>
                <a:spcPts val="1900"/>
              </a:spcAft>
              <a:defRPr sz="2300">
                <a:solidFill>
                  <a:srgbClr val="F5F8FB"/>
                </a:solidFill>
              </a:defRPr>
            </a:pPr>
            <a:r>
              <a:t>•  Handle cancellation and avoid stale UI updates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326429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A3A0"/>
                </a:solidFill>
              </a:defRPr>
            </a:pPr>
            <a:r>
              <a:rPr lang="nl-NL" dirty="0"/>
              <a:t>.NET 10 MAUI BLAZOR HYBRID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87552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5F8FB"/>
                </a:solidFill>
              </a:defRPr>
            </a:pPr>
            <a:r>
              <a:t>Lab 005 • API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76272"/>
            <a:ext cx="105156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300">
                <a:solidFill>
                  <a:srgbClr val="F5F8FB"/>
                </a:solidFill>
              </a:defRPr>
            </a:pPr>
            <a:r>
              <a:t>•  Run the local ASP.NET Core API on port 5088</a:t>
            </a:r>
          </a:p>
          <a:p>
            <a:pPr>
              <a:spcAft>
                <a:spcPts val="1900"/>
              </a:spcAft>
              <a:defRPr sz="2300">
                <a:solidFill>
                  <a:srgbClr val="F5F8FB"/>
                </a:solidFill>
              </a:defRPr>
            </a:pPr>
            <a:r>
              <a:t>•  Use typed HttpClient and API mode</a:t>
            </a:r>
          </a:p>
          <a:p>
            <a:pPr>
              <a:spcAft>
                <a:spcPts val="1900"/>
              </a:spcAft>
              <a:defRPr sz="2300">
                <a:solidFill>
                  <a:srgbClr val="F5F8FB"/>
                </a:solidFill>
              </a:defRPr>
            </a:pPr>
            <a:r>
              <a:t>•  Android emulator reaches host via 10.0.2.2</a:t>
            </a:r>
          </a:p>
          <a:p>
            <a:pPr>
              <a:spcAft>
                <a:spcPts val="1900"/>
              </a:spcAft>
              <a:defRPr sz="2300">
                <a:solidFill>
                  <a:srgbClr val="F5F8FB"/>
                </a:solidFill>
              </a:defRPr>
            </a:pPr>
            <a:r>
              <a:t>•  Discuss transport security and timeout behavior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326429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A3A0"/>
                </a:solidFill>
              </a:defRPr>
            </a:pPr>
            <a:r>
              <a:rPr lang="nl-NL" dirty="0"/>
              <a:t>.NET 10 MAUI BLAZOR HYBRID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87552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5F8FB"/>
                </a:solidFill>
              </a:defRPr>
            </a:pPr>
            <a:r>
              <a:t>Lab 006 • 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76272"/>
            <a:ext cx="105156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300">
                <a:solidFill>
                  <a:srgbClr val="F5F8FB"/>
                </a:solidFill>
              </a:defRPr>
            </a:pPr>
            <a:r>
              <a:t>•  Use EditForm and data annotations</a:t>
            </a:r>
          </a:p>
          <a:p>
            <a:pPr>
              <a:spcAft>
                <a:spcPts val="1900"/>
              </a:spcAft>
              <a:defRPr sz="2300">
                <a:solidFill>
                  <a:srgbClr val="F5F8FB"/>
                </a:solidFill>
              </a:defRPr>
            </a:pPr>
            <a:r>
              <a:t>•  Save changes asynchronously</a:t>
            </a:r>
          </a:p>
          <a:p>
            <a:pPr>
              <a:spcAft>
                <a:spcPts val="1900"/>
              </a:spcAft>
              <a:defRPr sz="2300">
                <a:solidFill>
                  <a:srgbClr val="F5F8FB"/>
                </a:solidFill>
              </a:defRPr>
            </a:pPr>
            <a:r>
              <a:t>•  Enforce validation again at the API boundary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326429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A3A0"/>
                </a:solidFill>
              </a:defRPr>
            </a:pPr>
            <a:r>
              <a:rPr lang="nl-NL" dirty="0"/>
              <a:t>.NET 10 MAUI BLAZOR HYBRID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87552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5F8FB"/>
                </a:solidFill>
              </a:defRPr>
            </a:pPr>
            <a:r>
              <a:t>Lab 007 • Native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76272"/>
            <a:ext cx="105156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300">
                <a:solidFill>
                  <a:srgbClr val="F5F8FB"/>
                </a:solidFill>
              </a:defRPr>
            </a:pPr>
            <a:r>
              <a:t>•  Access connectivity via a service interface</a:t>
            </a:r>
          </a:p>
          <a:p>
            <a:pPr>
              <a:spcAft>
                <a:spcPts val="1900"/>
              </a:spcAft>
              <a:defRPr sz="2300">
                <a:solidFill>
                  <a:srgbClr val="F5F8FB"/>
                </a:solidFill>
              </a:defRPr>
            </a:pPr>
            <a:r>
              <a:t>•  Use preferences and photo selection</a:t>
            </a:r>
          </a:p>
          <a:p>
            <a:pPr>
              <a:spcAft>
                <a:spcPts val="1900"/>
              </a:spcAft>
              <a:defRPr sz="2300">
                <a:solidFill>
                  <a:srgbClr val="F5F8FB"/>
                </a:solidFill>
              </a:defRPr>
            </a:pPr>
            <a:r>
              <a:t>•  Discuss permission and device variability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326429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A3A0"/>
                </a:solidFill>
              </a:defRPr>
            </a:pPr>
            <a:r>
              <a:rPr lang="nl-NL" dirty="0"/>
              <a:t>.NET 10 MAUI BLAZOR HYBRID Workshop</a:t>
            </a:r>
          </a:p>
          <a:p>
            <a:pPr>
              <a:defRPr sz="1400" b="1">
                <a:solidFill>
                  <a:srgbClr val="1AA3A0"/>
                </a:solidFill>
              </a:defRPr>
            </a:pP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40080" y="987552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5F8FB"/>
                </a:solidFill>
              </a:defRPr>
            </a:pPr>
            <a:r>
              <a:t>Lab 008 • Offline-first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76272"/>
            <a:ext cx="105156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300">
                <a:solidFill>
                  <a:srgbClr val="F5F8FB"/>
                </a:solidFill>
              </a:defRPr>
            </a:pPr>
            <a:r>
              <a:t>•  Cache work orders in local SQLite</a:t>
            </a:r>
          </a:p>
          <a:p>
            <a:pPr>
              <a:spcAft>
                <a:spcPts val="1900"/>
              </a:spcAft>
              <a:defRPr sz="2300">
                <a:solidFill>
                  <a:srgbClr val="F5F8FB"/>
                </a:solidFill>
              </a:defRPr>
            </a:pPr>
            <a:r>
              <a:t>•  Queue changes while offline; manually synchronize</a:t>
            </a:r>
          </a:p>
          <a:p>
            <a:pPr>
              <a:spcAft>
                <a:spcPts val="1900"/>
              </a:spcAft>
              <a:defRPr sz="2300">
                <a:solidFill>
                  <a:srgbClr val="F5F8FB"/>
                </a:solidFill>
              </a:defRPr>
            </a:pPr>
            <a:r>
              <a:t>•  Last-write-wins is a teaching simplification</a:t>
            </a:r>
          </a:p>
          <a:p>
            <a:pPr>
              <a:spcAft>
                <a:spcPts val="1900"/>
              </a:spcAft>
              <a:defRPr sz="2300">
                <a:solidFill>
                  <a:srgbClr val="F5F8FB"/>
                </a:solidFill>
              </a:defRPr>
            </a:pPr>
            <a:r>
              <a:t>•  Production requires conflict detection and retry strategy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326429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A3A0"/>
                </a:solidFill>
              </a:defRPr>
            </a:pPr>
            <a:r>
              <a:rPr lang="nl-NL" dirty="0"/>
              <a:t>.NET 10 MAUI BLAZOR HYBRID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87552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5F8FB"/>
                </a:solidFill>
              </a:defRPr>
            </a:pPr>
            <a:r>
              <a:t>Lab 009 • Authentication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76272"/>
            <a:ext cx="105156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300">
                <a:solidFill>
                  <a:srgbClr val="F5F8FB"/>
                </a:solidFill>
              </a:defRPr>
            </a:pPr>
            <a:r>
              <a:t>•  SecureStorage is not an authentication protocol</a:t>
            </a:r>
          </a:p>
          <a:p>
            <a:pPr>
              <a:spcAft>
                <a:spcPts val="1900"/>
              </a:spcAft>
              <a:defRPr sz="2300">
                <a:solidFill>
                  <a:srgbClr val="F5F8FB"/>
                </a:solidFill>
              </a:defRPr>
            </a:pPr>
            <a:r>
              <a:t>•  Explain OIDC/OAuth with PKCE and system browser</a:t>
            </a:r>
          </a:p>
          <a:p>
            <a:pPr>
              <a:spcAft>
                <a:spcPts val="1900"/>
              </a:spcAft>
              <a:defRPr sz="2300">
                <a:solidFill>
                  <a:srgbClr val="F5F8FB"/>
                </a:solidFill>
              </a:defRPr>
            </a:pPr>
            <a:r>
              <a:t>•  Token expiry, refresh, logout and server validation matter</a:t>
            </a:r>
          </a:p>
          <a:p>
            <a:pPr>
              <a:spcAft>
                <a:spcPts val="1900"/>
              </a:spcAft>
              <a:defRPr sz="2300">
                <a:solidFill>
                  <a:srgbClr val="F5F8FB"/>
                </a:solidFill>
              </a:defRPr>
            </a:pPr>
            <a:r>
              <a:t>•  Sample bearer handler is a demonstration only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326429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A3A0"/>
                </a:solidFill>
              </a:defRPr>
            </a:pPr>
            <a:r>
              <a:rPr lang="nl-NL" dirty="0"/>
              <a:t>.NET 10 MAUI BLAZOR HYBRID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87552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5F8FB"/>
                </a:solidFill>
              </a:defRPr>
            </a:pPr>
            <a:r>
              <a:t>Lab 010 • Production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76272"/>
            <a:ext cx="105156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300">
                <a:solidFill>
                  <a:srgbClr val="F5F8FB"/>
                </a:solidFill>
              </a:defRPr>
            </a:pPr>
            <a:r>
              <a:t>•  Structured logs and operation timing</a:t>
            </a:r>
          </a:p>
          <a:p>
            <a:pPr>
              <a:spcAft>
                <a:spcPts val="1900"/>
              </a:spcAft>
              <a:defRPr sz="2300">
                <a:solidFill>
                  <a:srgbClr val="F5F8FB"/>
                </a:solidFill>
              </a:defRPr>
            </a:pPr>
            <a:r>
              <a:t>•  Error handling, release configuration, and diagnostics</a:t>
            </a:r>
          </a:p>
          <a:p>
            <a:pPr>
              <a:spcAft>
                <a:spcPts val="1900"/>
              </a:spcAft>
              <a:defRPr sz="2300">
                <a:solidFill>
                  <a:srgbClr val="F5F8FB"/>
                </a:solidFill>
              </a:defRPr>
            </a:pPr>
            <a:r>
              <a:t>•  Build/test on physical devices and supported OS versions</a:t>
            </a:r>
          </a:p>
          <a:p>
            <a:pPr>
              <a:spcAft>
                <a:spcPts val="1900"/>
              </a:spcAft>
              <a:defRPr sz="2300">
                <a:solidFill>
                  <a:srgbClr val="F5F8FB"/>
                </a:solidFill>
              </a:defRPr>
            </a:pPr>
            <a:r>
              <a:t>•  Review deployment and data-protection checklist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326429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A3A0"/>
                </a:solidFill>
              </a:defRPr>
            </a:pPr>
            <a:r>
              <a:rPr lang="nl-NL" dirty="0"/>
              <a:t>.NET 10 MAUI BLAZOR HYBRID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87552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5F8FB"/>
                </a:solidFill>
              </a:defRPr>
            </a:pPr>
            <a:r>
              <a:t>Production decision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76272"/>
            <a:ext cx="10515600" cy="2239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300">
                <a:solidFill>
                  <a:srgbClr val="F5F8FB"/>
                </a:solidFill>
              </a:defRPr>
            </a:pPr>
            <a:r>
              <a:rPr dirty="0"/>
              <a:t>•  Offline sync policy: server wins, client wins, or conflict UI?</a:t>
            </a:r>
            <a:r>
              <a:rPr lang="en-US" dirty="0"/>
              <a:t> – Or?</a:t>
            </a:r>
            <a:endParaRPr dirty="0"/>
          </a:p>
          <a:p>
            <a:pPr>
              <a:spcAft>
                <a:spcPts val="1900"/>
              </a:spcAft>
              <a:defRPr sz="2300">
                <a:solidFill>
                  <a:srgbClr val="F5F8FB"/>
                </a:solidFill>
              </a:defRPr>
            </a:pPr>
            <a:r>
              <a:rPr dirty="0"/>
              <a:t>•  Secrets: never hardcode client credentials</a:t>
            </a:r>
          </a:p>
          <a:p>
            <a:pPr>
              <a:spcAft>
                <a:spcPts val="1900"/>
              </a:spcAft>
              <a:defRPr sz="2300">
                <a:solidFill>
                  <a:srgbClr val="F5F8FB"/>
                </a:solidFill>
              </a:defRPr>
            </a:pPr>
            <a:r>
              <a:rPr dirty="0"/>
              <a:t>•  Testing: emulator, physical device, and backend</a:t>
            </a:r>
          </a:p>
          <a:p>
            <a:pPr>
              <a:spcAft>
                <a:spcPts val="1900"/>
              </a:spcAft>
              <a:defRPr sz="2300">
                <a:solidFill>
                  <a:srgbClr val="F5F8FB"/>
                </a:solidFill>
              </a:defRPr>
            </a:pPr>
            <a:r>
              <a:rPr dirty="0"/>
              <a:t>•  Observability: redact sensitive data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326429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A3A0"/>
                </a:solidFill>
              </a:defRPr>
            </a:pPr>
            <a:r>
              <a:rPr lang="nl-NL" dirty="0"/>
              <a:t>.NET 10 MAUI BLAZOR HYBRID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87552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5F8FB"/>
                </a:solidFill>
              </a:defRPr>
            </a:pPr>
            <a:r>
              <a:t>Checkpoint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76272"/>
            <a:ext cx="10515600" cy="2239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300">
                <a:solidFill>
                  <a:srgbClr val="F5F8FB"/>
                </a:solidFill>
              </a:defRPr>
            </a:pPr>
            <a:r>
              <a:rPr dirty="0"/>
              <a:t>•  git tag --list</a:t>
            </a:r>
          </a:p>
          <a:p>
            <a:pPr>
              <a:spcAft>
                <a:spcPts val="1900"/>
              </a:spcAft>
              <a:defRPr sz="2300">
                <a:solidFill>
                  <a:srgbClr val="F5F8FB"/>
                </a:solidFill>
              </a:defRPr>
            </a:pPr>
            <a:r>
              <a:rPr dirty="0"/>
              <a:t>•  git switch -c </a:t>
            </a:r>
            <a:r>
              <a:rPr lang="en-US" dirty="0"/>
              <a:t>lab-004</a:t>
            </a:r>
            <a:r>
              <a:rPr dirty="0"/>
              <a:t> </a:t>
            </a:r>
            <a:r>
              <a:rPr lang="en-US" dirty="0"/>
              <a:t>004-Completed</a:t>
            </a:r>
            <a:endParaRPr dirty="0"/>
          </a:p>
          <a:p>
            <a:pPr>
              <a:spcAft>
                <a:spcPts val="1900"/>
              </a:spcAft>
              <a:defRPr sz="2300">
                <a:solidFill>
                  <a:srgbClr val="F5F8FB"/>
                </a:solidFill>
              </a:defRPr>
            </a:pPr>
            <a:r>
              <a:rPr dirty="0"/>
              <a:t>•  Tags represent completed labs</a:t>
            </a:r>
          </a:p>
          <a:p>
            <a:pPr>
              <a:spcAft>
                <a:spcPts val="1900"/>
              </a:spcAft>
              <a:defRPr sz="2300">
                <a:solidFill>
                  <a:srgbClr val="F5F8FB"/>
                </a:solidFill>
              </a:defRPr>
            </a:pPr>
            <a:r>
              <a:rPr dirty="0"/>
              <a:t>•  Use a fresh branch; never commit on detached HEAD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647</Words>
  <Application>Microsoft Office PowerPoint</Application>
  <PresentationFormat>Widescreen</PresentationFormat>
  <Paragraphs>89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Mitch</dc:creator>
  <cp:keywords/>
  <dc:description>generated using python-pptx</dc:description>
  <cp:lastModifiedBy>Mitchel Sellers</cp:lastModifiedBy>
  <cp:revision>2</cp:revision>
  <dcterms:created xsi:type="dcterms:W3CDTF">2013-01-27T09:14:16Z</dcterms:created>
  <dcterms:modified xsi:type="dcterms:W3CDTF">2026-10-11T22:28:25Z</dcterms:modified>
  <cp:category/>
</cp:coreProperties>
</file>